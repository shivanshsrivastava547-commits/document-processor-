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Quarterly Business 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Executive summary of Q3 FY26 performance</a:t>
            </a:r>
          </a:p>
          <a:p>
            <a:pPr>
              <a:spcAft>
                <a:spcPts val="1200"/>
              </a:spcAft>
              <a:defRPr sz="2000"/>
            </a:pPr>
            <a:r>
              <a:t>Key metrics: revenue, gross profit, churn</a:t>
            </a:r>
          </a:p>
          <a:p>
            <a:pPr>
              <a:spcAft>
                <a:spcPts val="1200"/>
              </a:spcAft>
              <a:defRPr sz="2000"/>
            </a:pPr>
            <a:r>
              <a:t>Alignment with internal targets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Current quarter revenue: $10.10 million</a:t>
            </a:r>
          </a:p>
          <a:p>
            <a:pPr>
              <a:spcAft>
                <a:spcPts val="1200"/>
              </a:spcAft>
              <a:defRPr sz="2000"/>
            </a:pPr>
            <a:r>
              <a:t>Previous quarter revenue: $9.40 million</a:t>
            </a:r>
          </a:p>
          <a:p>
            <a:pPr>
              <a:spcAft>
                <a:spcPts val="1200"/>
              </a:spcAft>
              <a:defRPr sz="2000"/>
            </a:pPr>
            <a:r>
              <a:t>Quarter‑over‑quarter growth: 7.4 %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Gross Profit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Current quarter gross profit: $4.05 million (40.1 % margin)</a:t>
            </a:r>
          </a:p>
          <a:p>
            <a:pPr>
              <a:spcAft>
                <a:spcPts val="1200"/>
              </a:spcAft>
              <a:defRPr sz="2000"/>
            </a:pPr>
            <a:r>
              <a:t>Previous quarter gross profit: $3.68 million (39.2 % margin)</a:t>
            </a:r>
          </a:p>
          <a:p>
            <a:pPr>
              <a:spcAft>
                <a:spcPts val="1200"/>
              </a:spcAft>
              <a:defRPr sz="2000"/>
            </a:pPr>
            <a:r>
              <a:t>Margin improvement: 0.9 percentage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Churn and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Current quarter churn rate: 8.5 % (derived from 91.5 % retention)</a:t>
            </a:r>
          </a:p>
          <a:p>
            <a:pPr>
              <a:spcAft>
                <a:spcPts val="1200"/>
              </a:spcAft>
              <a:defRPr sz="2000"/>
            </a:pPr>
            <a:r>
              <a:t>Previous quarter churn rate: Data not available in the provided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Internal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Revenue target for Q3: $10.50 million</a:t>
            </a:r>
          </a:p>
          <a:p>
            <a:pPr>
              <a:spcAft>
                <a:spcPts val="1200"/>
              </a:spcAft>
              <a:defRPr sz="2000"/>
            </a:pPr>
            <a:r>
              <a:t>Gross margin target: 40.0 %</a:t>
            </a:r>
          </a:p>
          <a:p>
            <a:pPr>
              <a:spcAft>
                <a:spcPts val="1200"/>
              </a:spcAft>
              <a:defRPr sz="2000"/>
            </a:pPr>
            <a:r>
              <a:t>Retention target: 92.0 % (churn target 8.0 %)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Target Attainment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Revenue achieved: 96.2 % of target</a:t>
            </a:r>
          </a:p>
          <a:p>
            <a:pPr>
              <a:spcAft>
                <a:spcPts val="1200"/>
              </a:spcAft>
              <a:defRPr sz="2000"/>
            </a:pPr>
            <a:r>
              <a:t>Gross margin achieved: 40.1 % (above target)</a:t>
            </a:r>
          </a:p>
          <a:p>
            <a:pPr>
              <a:spcAft>
                <a:spcPts val="1200"/>
              </a:spcAft>
              <a:defRPr sz="2000"/>
            </a:pPr>
            <a:r>
              <a:t>Retention achieved: 91.5 % (slightly below target)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Strategic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Revenue growth of 7.4 % QoQ</a:t>
            </a:r>
          </a:p>
          <a:p>
            <a:pPr>
              <a:spcAft>
                <a:spcPts val="1200"/>
              </a:spcAft>
              <a:defRPr sz="2000"/>
            </a:pPr>
            <a:r>
              <a:t>Maintained margin discipline at 40.1 %</a:t>
            </a:r>
          </a:p>
          <a:p>
            <a:pPr>
              <a:spcAft>
                <a:spcPts val="1200"/>
              </a:spcAft>
              <a:defRPr sz="2000"/>
            </a:pPr>
            <a:r>
              <a:t>Focus on converting growth into target attainment next quarter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Recommendations for Next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Enhance customer retention initiatives to meet 92.0 % target</a:t>
            </a:r>
          </a:p>
          <a:p>
            <a:pPr>
              <a:spcAft>
                <a:spcPts val="1200"/>
              </a:spcAft>
              <a:defRPr sz="2000"/>
            </a:pPr>
            <a:r>
              <a:t>Continue margin optimization strategies</a:t>
            </a:r>
          </a:p>
          <a:p>
            <a:pPr>
              <a:spcAft>
                <a:spcPts val="1200"/>
              </a:spcAft>
              <a:defRPr sz="2000"/>
            </a:pPr>
            <a:r>
              <a:t>Align sales and marketing efforts to sustain revenue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Revenue and margin exceeded expectations</a:t>
            </a:r>
          </a:p>
          <a:p>
            <a:pPr>
              <a:spcAft>
                <a:spcPts val="1200"/>
              </a:spcAft>
              <a:defRPr sz="2000"/>
            </a:pPr>
            <a:r>
              <a:t>Churn remains a concern; retention below target</a:t>
            </a:r>
          </a:p>
          <a:p>
            <a:pPr>
              <a:spcAft>
                <a:spcPts val="1200"/>
              </a:spcAft>
              <a:defRPr sz="2000"/>
            </a:pPr>
            <a:r>
              <a:t>Strategic focus on conversion and margin discipline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/>
            </a:pPr>
            <a:r>
              <a:t>Open floor for executive questions</a:t>
            </a:r>
          </a:p>
          <a:p>
            <a:pPr>
              <a:spcAft>
                <a:spcPts val="1200"/>
              </a:spcAft>
              <a:defRPr sz="2000"/>
            </a:pPr>
            <a:r>
              <a:t>Discussion on action items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